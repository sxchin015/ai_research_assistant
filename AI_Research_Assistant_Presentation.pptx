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1A0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515600" y="-182880"/>
            <a:ext cx="2560320" cy="2560320"/>
          </a:xfrm>
          <a:prstGeom prst="ellipse">
            <a:avLst/>
          </a:prstGeom>
          <a:solidFill>
            <a:srgbClr val="221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09728" cy="42062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82880" y="1097280"/>
            <a:ext cx="45720" cy="42062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1280160"/>
            <a:ext cx="3840480" cy="411480"/>
          </a:xfrm>
          <a:prstGeom prst="rect">
            <a:avLst/>
          </a:prstGeom>
          <a:solidFill>
            <a:srgbClr val="2D1A6E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292869"/>
            <a:ext cx="3886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A78BFA"/>
                </a:solidFill>
                <a:latin typeface="Trebuchet MS"/>
              </a:rPr>
              <a:t> AI Engineer Assignment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10058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Trebuchet MS"/>
              </a:rPr>
              <a:t>AI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974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A78BFA"/>
                </a:solidFill>
                <a:latin typeface="Trebuchet MS"/>
              </a:rPr>
              <a:t>Assistant Chatbot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03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6B6D4"/>
                </a:solidFill>
                <a:latin typeface="Trebuchet MS"/>
              </a:rPr>
              <a:t>Smart answers from your documents + live web search  ·  Powered by Groq (Free LLaMA AI)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663440"/>
            <a:ext cx="3474720" cy="1280160"/>
          </a:xfrm>
          <a:prstGeom prst="rect">
            <a:avLst/>
          </a:prstGeom>
          <a:solidFill>
            <a:srgbClr val="1A1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400" y="4663440"/>
            <a:ext cx="73152" cy="1280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47548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Trebuchet MS"/>
              </a:rPr>
              <a:t>📚  RAG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1663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EE"/>
                </a:solidFill>
                <a:latin typeface="Trebuchet MS"/>
              </a:rPr>
              <a:t>Searches your uploaded files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4663440"/>
            <a:ext cx="3474720" cy="1280160"/>
          </a:xfrm>
          <a:prstGeom prst="rect">
            <a:avLst/>
          </a:prstGeom>
          <a:solidFill>
            <a:srgbClr val="1A1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663440" y="4663440"/>
            <a:ext cx="73152" cy="1280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46320" y="47548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Trebuchet MS"/>
              </a:rPr>
              <a:t>🌐  Web 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51663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EE"/>
                </a:solidFill>
                <a:latin typeface="Trebuchet MS"/>
              </a:rPr>
              <a:t>Looks up live web results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0" y="4663440"/>
            <a:ext cx="3474720" cy="1280160"/>
          </a:xfrm>
          <a:prstGeom prst="rect">
            <a:avLst/>
          </a:prstGeom>
          <a:solidFill>
            <a:srgbClr val="1A1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412480" y="4663440"/>
            <a:ext cx="73152" cy="1280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95359" y="47548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Trebuchet MS"/>
              </a:rPr>
              <a:t>⚡  Groq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59" y="51663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EE"/>
                </a:solidFill>
                <a:latin typeface="Trebuchet MS"/>
              </a:rPr>
              <a:t>Fast, free LLaMA responses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61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0" y="66019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 dirty="0">
                <a:solidFill>
                  <a:srgbClr val="666699"/>
                </a:solidFill>
                <a:latin typeface="Trebuchet MS"/>
              </a:rPr>
              <a:t>AI Research Assistant  ·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61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7C3AED"/>
                </a:solidFill>
                <a:latin typeface="Trebuchet M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7315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Trebuchet MS"/>
              </a:rPr>
              <a:t>What Problem Are We Solving?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5394960" cy="5029200"/>
          </a:xfrm>
          <a:prstGeom prst="rect">
            <a:avLst/>
          </a:prstGeom>
          <a:solidFill>
            <a:srgbClr val="161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868680"/>
            <a:ext cx="64008" cy="5029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914400"/>
            <a:ext cx="4937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dirty="0">
                <a:solidFill>
                  <a:srgbClr val="F59E0B"/>
                </a:solidFill>
                <a:latin typeface="Trebuchet MS"/>
              </a:rPr>
              <a:t> 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417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EE"/>
                </a:solidFill>
                <a:latin typeface="Trebuchet MS"/>
              </a:rPr>
              <a:t>When people do research, they face these frustrations: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28800"/>
            <a:ext cx="50292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>
                <a:solidFill>
                  <a:srgbClr val="F59E0B"/>
                </a:solidFill>
                <a:latin typeface="Trebuchet MS"/>
              </a:rPr>
              <a:t>▸  </a:t>
            </a:r>
            <a:r>
              <a:rPr sz="1350">
                <a:solidFill>
                  <a:srgbClr val="CCCCEE"/>
                </a:solidFill>
                <a:latin typeface="Trebuchet MS"/>
              </a:rPr>
              <a:t>They upload a PDF or report... but their chatbot doesn't know what's inside it</a:t>
            </a:r>
          </a:p>
          <a:p>
            <a:pPr algn="l"/>
            <a:r>
              <a:rPr sz="1350">
                <a:solidFill>
                  <a:srgbClr val="F59E0B"/>
                </a:solidFill>
                <a:latin typeface="Trebuchet MS"/>
              </a:rPr>
              <a:t>▸  </a:t>
            </a:r>
            <a:r>
              <a:rPr sz="1350">
                <a:solidFill>
                  <a:srgbClr val="CCCCEE"/>
                </a:solidFill>
                <a:latin typeface="Trebuchet MS"/>
              </a:rPr>
              <a:t>They ask about recent events... but the AI's knowledge is outdated</a:t>
            </a:r>
          </a:p>
          <a:p>
            <a:pPr algn="l"/>
            <a:r>
              <a:rPr sz="1350">
                <a:solidFill>
                  <a:srgbClr val="F59E0B"/>
                </a:solidFill>
                <a:latin typeface="Trebuchet MS"/>
              </a:rPr>
              <a:t>▸  </a:t>
            </a:r>
            <a:r>
              <a:rPr sz="1350">
                <a:solidFill>
                  <a:srgbClr val="CCCCEE"/>
                </a:solidFill>
                <a:latin typeface="Trebuchet MS"/>
              </a:rPr>
              <a:t>They need a quick 1-line answer sometimes, and a deep explanation other times</a:t>
            </a:r>
          </a:p>
          <a:p>
            <a:pPr algn="l"/>
            <a:r>
              <a:rPr sz="1350">
                <a:solidFill>
                  <a:srgbClr val="F59E0B"/>
                </a:solidFill>
                <a:latin typeface="Trebuchet MS"/>
              </a:rPr>
              <a:t>▸  </a:t>
            </a:r>
            <a:r>
              <a:rPr sz="1350">
                <a:solidFill>
                  <a:srgbClr val="CCCCEE"/>
                </a:solidFill>
                <a:latin typeface="Trebuchet MS"/>
              </a:rPr>
              <a:t>They waste time copy-pasting between documents, browsers, and AI tools</a:t>
            </a:r>
          </a:p>
          <a:p>
            <a:pPr algn="l"/>
            <a:r>
              <a:rPr sz="1350">
                <a:solidFill>
                  <a:srgbClr val="F59E0B"/>
                </a:solidFill>
                <a:latin typeface="Trebuchet MS"/>
              </a:rPr>
              <a:t>▸  </a:t>
            </a:r>
            <a:r>
              <a:rPr sz="1350">
                <a:solidFill>
                  <a:srgbClr val="CCCCEE"/>
                </a:solidFill>
                <a:latin typeface="Trebuchet MS"/>
              </a:rPr>
              <a:t>Most AI tools need expensive API keys that cost money every month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868680"/>
            <a:ext cx="5669280" cy="5029200"/>
          </a:xfrm>
          <a:prstGeom prst="rect">
            <a:avLst/>
          </a:prstGeom>
          <a:solidFill>
            <a:srgbClr val="161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26480" y="868680"/>
            <a:ext cx="64008" cy="5029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9144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0B981"/>
                </a:solidFill>
                <a:latin typeface="Trebuchet MS"/>
              </a:rPr>
              <a:t>✅  Our 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4173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EE"/>
                </a:solidFill>
                <a:latin typeface="Trebuchet MS"/>
              </a:rPr>
              <a:t>One smart chatbot that handles all of it: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828800"/>
            <a:ext cx="5303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>
                <a:solidFill>
                  <a:srgbClr val="10B981"/>
                </a:solidFill>
                <a:latin typeface="Trebuchet MS"/>
              </a:rPr>
              <a:t>▸  </a:t>
            </a:r>
            <a:r>
              <a:rPr sz="1350">
                <a:solidFill>
                  <a:srgbClr val="CCCCEE"/>
                </a:solidFill>
                <a:latin typeface="Trebuchet MS"/>
              </a:rPr>
              <a:t>Upload any PDF/TXT → the bot reads it and answers from it instantly</a:t>
            </a:r>
          </a:p>
          <a:p>
            <a:pPr algn="l"/>
            <a:r>
              <a:rPr sz="1350">
                <a:solidFill>
                  <a:srgbClr val="10B981"/>
                </a:solidFill>
                <a:latin typeface="Trebuchet MS"/>
              </a:rPr>
              <a:t>▸  </a:t>
            </a:r>
            <a:r>
              <a:rPr sz="1350">
                <a:solidFill>
                  <a:srgbClr val="CCCCEE"/>
                </a:solidFill>
                <a:latin typeface="Trebuchet MS"/>
              </a:rPr>
              <a:t>If the doc doesn't have the answer, it searches the web automatically</a:t>
            </a:r>
          </a:p>
          <a:p>
            <a:pPr algn="l"/>
            <a:r>
              <a:rPr sz="1350">
                <a:solidFill>
                  <a:srgbClr val="10B981"/>
                </a:solidFill>
                <a:latin typeface="Trebuchet MS"/>
              </a:rPr>
              <a:t>▸  </a:t>
            </a:r>
            <a:r>
              <a:rPr sz="1350">
                <a:solidFill>
                  <a:srgbClr val="CCCCEE"/>
                </a:solidFill>
                <a:latin typeface="Trebuchet MS"/>
              </a:rPr>
              <a:t>Toggle between Concise mode (short answer) or Detailed mode (full explanation)</a:t>
            </a:r>
          </a:p>
          <a:p>
            <a:pPr algn="l"/>
            <a:r>
              <a:rPr sz="1350">
                <a:solidFill>
                  <a:srgbClr val="10B981"/>
                </a:solidFill>
                <a:latin typeface="Trebuchet MS"/>
              </a:rPr>
              <a:t>▸  </a:t>
            </a:r>
            <a:r>
              <a:rPr sz="1350">
                <a:solidFill>
                  <a:srgbClr val="CCCCEE"/>
                </a:solidFill>
                <a:latin typeface="Trebuchet MS"/>
              </a:rPr>
              <a:t>Shows you exactly where the answer came from (doc / web / AI knowledge)</a:t>
            </a:r>
          </a:p>
          <a:p>
            <a:pPr algn="l"/>
            <a:r>
              <a:rPr sz="1350">
                <a:solidFill>
                  <a:srgbClr val="10B981"/>
                </a:solidFill>
                <a:latin typeface="Trebuchet MS"/>
              </a:rPr>
              <a:t>▸  </a:t>
            </a:r>
            <a:r>
              <a:rPr sz="1350">
                <a:solidFill>
                  <a:srgbClr val="CCCCEE"/>
                </a:solidFill>
                <a:latin typeface="Trebuchet MS"/>
              </a:rPr>
              <a:t>Completely FREE — uses Groq (no credit card needed ever)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61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0" y="66019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IN" sz="1000" dirty="0">
                <a:solidFill>
                  <a:srgbClr val="666699"/>
                </a:solidFill>
                <a:latin typeface="Trebuchet MS"/>
              </a:rPr>
              <a:t>AI Research Assistant 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61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7C3AED"/>
                </a:solidFill>
                <a:latin typeface="Trebuchet M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7315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Trebuchet MS"/>
              </a:rPr>
              <a:t>How Did We Build It? — Our Approach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914400"/>
            <a:ext cx="3657600" cy="2286000"/>
          </a:xfrm>
          <a:prstGeom prst="rect">
            <a:avLst/>
          </a:prstGeom>
          <a:solidFill>
            <a:srgbClr val="161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914400"/>
            <a:ext cx="73152" cy="2286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02920" y="1078992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1207" y="1097280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0972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3AED"/>
                </a:solidFill>
                <a:latin typeface="Trebuchet MS"/>
              </a:rPr>
              <a:t>Pick a Real Use 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6002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66699"/>
                </a:solidFill>
                <a:latin typeface="Trebuchet MS"/>
              </a:rPr>
              <a:t>"Step 1"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920240"/>
            <a:ext cx="33375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CCEE"/>
                </a:solidFill>
                <a:latin typeface="Trebuchet MS"/>
              </a:rPr>
              <a:t>We chose 'Research Assistant' because researchers genuinely need to search PDFs + web together.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59" y="914400"/>
            <a:ext cx="3657600" cy="2286000"/>
          </a:xfrm>
          <a:prstGeom prst="rect">
            <a:avLst/>
          </a:prstGeom>
          <a:solidFill>
            <a:srgbClr val="161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51959" y="914400"/>
            <a:ext cx="73152" cy="2286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434840" y="1078992"/>
            <a:ext cx="502920" cy="50292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53127" y="1097280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10972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B6D4"/>
                </a:solidFill>
                <a:latin typeface="Trebuchet MS"/>
              </a:rPr>
              <a:t>Choose 100% Free 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16002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66699"/>
                </a:solidFill>
                <a:latin typeface="Trebuchet MS"/>
              </a:rPr>
              <a:t>"Step 2"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1920240"/>
            <a:ext cx="33375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CCEE"/>
                </a:solidFill>
                <a:latin typeface="Trebuchet MS"/>
              </a:rPr>
              <a:t>Groq gives free LLaMA AI (just email signup). sentence-transformers runs locally for free.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83879" y="914400"/>
            <a:ext cx="3657600" cy="2286000"/>
          </a:xfrm>
          <a:prstGeom prst="rect">
            <a:avLst/>
          </a:prstGeom>
          <a:solidFill>
            <a:srgbClr val="161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183879" y="914400"/>
            <a:ext cx="73152" cy="2286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366759" y="1078992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85048" y="1097280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40" y="10972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  <a:latin typeface="Trebuchet MS"/>
              </a:rPr>
              <a:t>Build the RAG Pipeline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59" y="16002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66699"/>
                </a:solidFill>
                <a:latin typeface="Trebuchet MS"/>
              </a:rPr>
              <a:t>"Step 3"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59" y="1920240"/>
            <a:ext cx="33375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CCEE"/>
                </a:solidFill>
                <a:latin typeface="Trebuchet MS"/>
              </a:rPr>
              <a:t>PDF → extract text → split into chunks → convert to numbers (embeddings) → store in FAISS index.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474720"/>
            <a:ext cx="3657600" cy="2286000"/>
          </a:xfrm>
          <a:prstGeom prst="rect">
            <a:avLst/>
          </a:prstGeom>
          <a:solidFill>
            <a:srgbClr val="161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20040" y="3474720"/>
            <a:ext cx="73152" cy="228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502920" y="3639312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21207" y="3657600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rebuchet M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36576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  <a:latin typeface="Trebuchet MS"/>
              </a:rPr>
              <a:t>Add Web Search Fallback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41605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66699"/>
                </a:solidFill>
                <a:latin typeface="Trebuchet MS"/>
              </a:rPr>
              <a:t>"Step 4"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4480560"/>
            <a:ext cx="33375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CCEE"/>
                </a:solidFill>
                <a:latin typeface="Trebuchet MS"/>
              </a:rPr>
              <a:t>If the document doesn't contain the answer, DuckDuckGo searches the web — also completely free.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51959" y="3474720"/>
            <a:ext cx="3657600" cy="2286000"/>
          </a:xfrm>
          <a:prstGeom prst="rect">
            <a:avLst/>
          </a:prstGeom>
          <a:solidFill>
            <a:srgbClr val="161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251959" y="3474720"/>
            <a:ext cx="73152" cy="2286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4434840" y="3639312"/>
            <a:ext cx="502920" cy="50292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453127" y="3657600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rebuchet MS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74920" y="36576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78BFA"/>
                </a:solidFill>
                <a:latin typeface="Trebuchet MS"/>
              </a:rPr>
              <a:t>Build the Streamlit UI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34840" y="41605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66699"/>
                </a:solidFill>
                <a:latin typeface="Trebuchet MS"/>
              </a:rPr>
              <a:t>"Step 5"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34840" y="4480560"/>
            <a:ext cx="33375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CCEE"/>
                </a:solidFill>
                <a:latin typeface="Trebuchet MS"/>
              </a:rPr>
              <a:t>Chat interface with file upload, mode toggle, source badges, and a pipeline trace for transparency.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83879" y="3474720"/>
            <a:ext cx="3657600" cy="2286000"/>
          </a:xfrm>
          <a:prstGeom prst="rect">
            <a:avLst/>
          </a:prstGeom>
          <a:solidFill>
            <a:srgbClr val="161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183879" y="3474720"/>
            <a:ext cx="73152" cy="2286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8366759" y="3639312"/>
            <a:ext cx="502920" cy="50292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385048" y="3657600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rebuchet MS"/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06840" y="36576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4D399"/>
                </a:solidFill>
                <a:latin typeface="Trebuchet MS"/>
              </a:rPr>
              <a:t>Deploy to Streamlit Cloud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66759" y="41605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66699"/>
                </a:solidFill>
                <a:latin typeface="Trebuchet MS"/>
              </a:rPr>
              <a:t>"Step 6"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66759" y="4480560"/>
            <a:ext cx="33375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CCEE"/>
                </a:solidFill>
                <a:latin typeface="Trebuchet MS"/>
              </a:rPr>
              <a:t>Push code to GitHub → connect to Streamlit Cloud → add API key in settings → live in 2 minutes.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61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572000" y="66019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IN" sz="1000" dirty="0">
                <a:solidFill>
                  <a:srgbClr val="666699"/>
                </a:solidFill>
                <a:latin typeface="Trebuchet MS"/>
              </a:rPr>
              <a:t>AI Research Assistant 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61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7C3AED"/>
                </a:solidFill>
                <a:latin typeface="Trebuchet M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7315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Trebuchet MS"/>
              </a:rPr>
              <a:t>How Does It Work? — System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CCEE"/>
                </a:solidFill>
                <a:latin typeface="Trebuchet MS"/>
              </a:rPr>
              <a:t>Every question you type goes through this automatic pipeline: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331720"/>
            <a:ext cx="1737360" cy="1005840"/>
          </a:xfrm>
          <a:prstGeom prst="rect">
            <a:avLst/>
          </a:prstGeom>
          <a:solidFill>
            <a:srgbClr val="161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2331720"/>
            <a:ext cx="73152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4632" y="2404872"/>
            <a:ext cx="1481328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7C3AED"/>
                </a:solidFill>
                <a:latin typeface="Trebuchet MS"/>
              </a:rPr>
              <a:t>👤
You Type
a Question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14600" y="2331720"/>
            <a:ext cx="1737360" cy="1005840"/>
          </a:xfrm>
          <a:prstGeom prst="rect">
            <a:avLst/>
          </a:prstGeom>
          <a:solidFill>
            <a:srgbClr val="161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514600" y="2331720"/>
            <a:ext cx="73152" cy="10058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79192" y="2404872"/>
            <a:ext cx="1481328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6B6D4"/>
                </a:solidFill>
                <a:latin typeface="Trebuchet MS"/>
              </a:rPr>
              <a:t>📚
Search the
Uploaded Doc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09160" y="1371600"/>
            <a:ext cx="1828800" cy="1005840"/>
          </a:xfrm>
          <a:prstGeom prst="rect">
            <a:avLst/>
          </a:prstGeom>
          <a:solidFill>
            <a:srgbClr val="161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709160" y="1371600"/>
            <a:ext cx="73152" cy="1005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73752" y="1444752"/>
            <a:ext cx="1572768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0B981"/>
                </a:solidFill>
                <a:latin typeface="Trebuchet MS"/>
              </a:rPr>
              <a:t>✅ Doc has answer
Use doc context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9160" y="3291840"/>
            <a:ext cx="1828800" cy="1005840"/>
          </a:xfrm>
          <a:prstGeom prst="rect">
            <a:avLst/>
          </a:prstGeom>
          <a:solidFill>
            <a:srgbClr val="161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709160" y="3291840"/>
            <a:ext cx="73152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73752" y="3364992"/>
            <a:ext cx="1572768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59E0B"/>
                </a:solidFill>
                <a:latin typeface="Trebuchet MS"/>
              </a:rPr>
              <a:t>🌐  Not found
Search the
Web instead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40880" y="2331720"/>
            <a:ext cx="1737360" cy="1005840"/>
          </a:xfrm>
          <a:prstGeom prst="rect">
            <a:avLst/>
          </a:prstGeom>
          <a:solidFill>
            <a:srgbClr val="161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040880" y="2331720"/>
            <a:ext cx="73152" cy="10058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05472" y="2404872"/>
            <a:ext cx="1481328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A78BFA"/>
                </a:solidFill>
                <a:latin typeface="Trebuchet MS"/>
              </a:rPr>
              <a:t>🤖
Groq LLaMA
generates reply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35440" y="2331720"/>
            <a:ext cx="2560320" cy="1005840"/>
          </a:xfrm>
          <a:prstGeom prst="rect">
            <a:avLst/>
          </a:prstGeom>
          <a:solidFill>
            <a:srgbClr val="161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235440" y="2331720"/>
            <a:ext cx="73152" cy="1005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400032" y="2404872"/>
            <a:ext cx="2304287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0B981"/>
                </a:solidFill>
                <a:latin typeface="Trebuchet MS"/>
              </a:rPr>
              <a:t>💬  Answer
streams to
your screen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57400" y="2807208"/>
            <a:ext cx="457200" cy="45720"/>
          </a:xfrm>
          <a:prstGeom prst="rect">
            <a:avLst/>
          </a:prstGeom>
          <a:solidFill>
            <a:srgbClr val="66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2505456" y="2715768"/>
            <a:ext cx="164592" cy="228600"/>
          </a:xfrm>
          <a:prstGeom prst="roundRect">
            <a:avLst/>
          </a:prstGeom>
          <a:solidFill>
            <a:srgbClr val="66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251960" y="2807208"/>
            <a:ext cx="457200" cy="45720"/>
          </a:xfrm>
          <a:prstGeom prst="rect">
            <a:avLst/>
          </a:prstGeom>
          <a:solidFill>
            <a:srgbClr val="66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4700016" y="2715768"/>
            <a:ext cx="164592" cy="228600"/>
          </a:xfrm>
          <a:prstGeom prst="roundRect">
            <a:avLst/>
          </a:prstGeom>
          <a:solidFill>
            <a:srgbClr val="66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663440" y="1892807"/>
            <a:ext cx="45720" cy="960120"/>
          </a:xfrm>
          <a:prstGeom prst="rect">
            <a:avLst/>
          </a:prstGeom>
          <a:solidFill>
            <a:srgbClr val="66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663440" y="2807208"/>
            <a:ext cx="45720" cy="978408"/>
          </a:xfrm>
          <a:prstGeom prst="rect">
            <a:avLst/>
          </a:prstGeom>
          <a:solidFill>
            <a:srgbClr val="66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537960" y="1892807"/>
            <a:ext cx="502920" cy="45720"/>
          </a:xfrm>
          <a:prstGeom prst="rect">
            <a:avLst/>
          </a:prstGeom>
          <a:solidFill>
            <a:srgbClr val="66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7031736" y="1801367"/>
            <a:ext cx="164592" cy="228600"/>
          </a:xfrm>
          <a:prstGeom prst="roundRect">
            <a:avLst/>
          </a:prstGeom>
          <a:solidFill>
            <a:srgbClr val="66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537960" y="2807208"/>
            <a:ext cx="502920" cy="45720"/>
          </a:xfrm>
          <a:prstGeom prst="rect">
            <a:avLst/>
          </a:prstGeom>
          <a:solidFill>
            <a:srgbClr val="66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7031736" y="2715768"/>
            <a:ext cx="164592" cy="228600"/>
          </a:xfrm>
          <a:prstGeom prst="roundRect">
            <a:avLst/>
          </a:prstGeom>
          <a:solidFill>
            <a:srgbClr val="66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778240" y="2807208"/>
            <a:ext cx="457200" cy="45720"/>
          </a:xfrm>
          <a:prstGeom prst="rect">
            <a:avLst/>
          </a:prstGeom>
          <a:solidFill>
            <a:srgbClr val="66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9226296" y="2715768"/>
            <a:ext cx="164592" cy="228600"/>
          </a:xfrm>
          <a:prstGeom prst="roundRect">
            <a:avLst/>
          </a:prstGeom>
          <a:solidFill>
            <a:srgbClr val="66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828032" y="1115568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0B981"/>
                </a:solidFill>
                <a:latin typeface="Trebuchet MS"/>
              </a:rPr>
              <a:t>✓ Answer found in doc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28032" y="4325112"/>
            <a:ext cx="2103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59E0B"/>
                </a:solidFill>
                <a:latin typeface="Trebuchet MS"/>
              </a:rPr>
              <a:t>✗ Not in doc → use web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48463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66699"/>
                </a:solidFill>
                <a:latin typeface="Trebuchet MS"/>
              </a:rPr>
              <a:t>📁  What's in each file: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5330952"/>
            <a:ext cx="128016" cy="3017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94360" y="5285232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EE"/>
                </a:solidFill>
                <a:latin typeface="Trebuchet MS"/>
              </a:rPr>
              <a:t>config/config.py  —  API keys &amp; settings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97680" y="5330952"/>
            <a:ext cx="128016" cy="30175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526280" y="5285232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EE"/>
                </a:solidFill>
                <a:latin typeface="Trebuchet MS"/>
              </a:rPr>
              <a:t>models/llm.py  —  Groq AI connection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9600" y="5330952"/>
            <a:ext cx="128016" cy="3017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458200" y="5285232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EE"/>
                </a:solidFill>
                <a:latin typeface="Trebuchet MS"/>
              </a:rPr>
              <a:t>models/embeddings.py  —  Local text-to-number converter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5769864"/>
            <a:ext cx="128016" cy="3017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4360" y="5724144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EE"/>
                </a:solidFill>
                <a:latin typeface="Trebuchet MS"/>
              </a:rPr>
              <a:t>utils/rag_utils.py  —  PDF read → search logic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97680" y="5769864"/>
            <a:ext cx="128016" cy="3017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526280" y="5724144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EE"/>
                </a:solidFill>
                <a:latin typeface="Trebuchet MS"/>
              </a:rPr>
              <a:t>utils/web_search.py  —  DuckDuckGo search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29600" y="5769864"/>
            <a:ext cx="128016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458200" y="5724144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EE"/>
                </a:solidFill>
                <a:latin typeface="Trebuchet MS"/>
              </a:rPr>
              <a:t>app.py  —  The Streamlit chat UI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61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572000" y="66019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IN" sz="1000" dirty="0">
                <a:solidFill>
                  <a:srgbClr val="666699"/>
                </a:solidFill>
                <a:latin typeface="Trebuchet MS"/>
              </a:rPr>
              <a:t>AI Research Assistant 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61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7C3AED"/>
                </a:solidFill>
                <a:latin typeface="Trebuchet M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7315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Trebuchet MS"/>
              </a:rPr>
              <a:t>Features Built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914400"/>
            <a:ext cx="3657600" cy="2560320"/>
          </a:xfrm>
          <a:prstGeom prst="rect">
            <a:avLst/>
          </a:prstGeom>
          <a:solidFill>
            <a:srgbClr val="161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914400"/>
            <a:ext cx="73152" cy="2560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0515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7C3AED"/>
                </a:solidFill>
                <a:latin typeface="Trebuchet MS"/>
              </a:rPr>
              <a:t>📚  RAG — Document 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72768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>
                <a:solidFill>
                  <a:srgbClr val="7C3AED"/>
                </a:solidFill>
                <a:latin typeface="Trebuchet MS"/>
              </a:rPr>
              <a:t>▸  </a:t>
            </a:r>
            <a:r>
              <a:rPr sz="1250">
                <a:solidFill>
                  <a:srgbClr val="CCCCEE"/>
                </a:solidFill>
                <a:latin typeface="Trebuchet MS"/>
              </a:rPr>
              <a:t>Upload PDF or TXT files</a:t>
            </a:r>
          </a:p>
          <a:p>
            <a:pPr algn="l"/>
            <a:r>
              <a:rPr sz="1250">
                <a:solidFill>
                  <a:srgbClr val="7C3AED"/>
                </a:solidFill>
                <a:latin typeface="Trebuchet MS"/>
              </a:rPr>
              <a:t>▸  </a:t>
            </a:r>
            <a:r>
              <a:rPr sz="1250">
                <a:solidFill>
                  <a:srgbClr val="CCCCEE"/>
                </a:solidFill>
                <a:latin typeface="Trebuchet MS"/>
              </a:rPr>
              <a:t>Auto-splits into small text chunks</a:t>
            </a:r>
          </a:p>
          <a:p>
            <a:pPr algn="l"/>
            <a:r>
              <a:rPr sz="1250">
                <a:solidFill>
                  <a:srgbClr val="7C3AED"/>
                </a:solidFill>
                <a:latin typeface="Trebuchet MS"/>
              </a:rPr>
              <a:t>▸  </a:t>
            </a:r>
            <a:r>
              <a:rPr sz="1250">
                <a:solidFill>
                  <a:srgbClr val="CCCCEE"/>
                </a:solidFill>
                <a:latin typeface="Trebuchet MS"/>
              </a:rPr>
              <a:t>Converts chunks to number vectors (embeddings)</a:t>
            </a:r>
          </a:p>
          <a:p>
            <a:pPr algn="l"/>
            <a:r>
              <a:rPr sz="1250">
                <a:solidFill>
                  <a:srgbClr val="7C3AED"/>
                </a:solidFill>
                <a:latin typeface="Trebuchet MS"/>
              </a:rPr>
              <a:t>▸  </a:t>
            </a:r>
            <a:r>
              <a:rPr sz="1250">
                <a:solidFill>
                  <a:srgbClr val="CCCCEE"/>
                </a:solidFill>
                <a:latin typeface="Trebuchet MS"/>
              </a:rPr>
              <a:t>Finds the most relevant chunks for your question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59" y="914400"/>
            <a:ext cx="3657600" cy="2560320"/>
          </a:xfrm>
          <a:prstGeom prst="rect">
            <a:avLst/>
          </a:prstGeom>
          <a:solidFill>
            <a:srgbClr val="161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51959" y="914400"/>
            <a:ext cx="73152" cy="25603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34840" y="10515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06B6D4"/>
                </a:solidFill>
                <a:latin typeface="Trebuchet MS"/>
              </a:rPr>
              <a:t>🌐  Live Web 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572768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>
                <a:solidFill>
                  <a:srgbClr val="06B6D4"/>
                </a:solidFill>
                <a:latin typeface="Trebuchet MS"/>
              </a:rPr>
              <a:t>▸  </a:t>
            </a:r>
            <a:r>
              <a:rPr sz="1250">
                <a:solidFill>
                  <a:srgbClr val="CCCCEE"/>
                </a:solidFill>
                <a:latin typeface="Trebuchet MS"/>
              </a:rPr>
              <a:t>Runs automatically when doc has no answer</a:t>
            </a:r>
          </a:p>
          <a:p>
            <a:pPr algn="l"/>
            <a:r>
              <a:rPr sz="1250">
                <a:solidFill>
                  <a:srgbClr val="06B6D4"/>
                </a:solidFill>
                <a:latin typeface="Trebuchet MS"/>
              </a:rPr>
              <a:t>▸  </a:t>
            </a:r>
            <a:r>
              <a:rPr sz="1250">
                <a:solidFill>
                  <a:srgbClr val="CCCCEE"/>
                </a:solidFill>
                <a:latin typeface="Trebuchet MS"/>
              </a:rPr>
              <a:t>Uses DuckDuckGo — free, no key needed</a:t>
            </a:r>
          </a:p>
          <a:p>
            <a:pPr algn="l"/>
            <a:r>
              <a:rPr sz="1250">
                <a:solidFill>
                  <a:srgbClr val="06B6D4"/>
                </a:solidFill>
                <a:latin typeface="Trebuchet MS"/>
              </a:rPr>
              <a:t>▸  </a:t>
            </a:r>
            <a:r>
              <a:rPr sz="1250">
                <a:solidFill>
                  <a:srgbClr val="CCCCEE"/>
                </a:solidFill>
                <a:latin typeface="Trebuchet MS"/>
              </a:rPr>
              <a:t>Formats search results as context for the AI</a:t>
            </a:r>
          </a:p>
          <a:p>
            <a:pPr algn="l"/>
            <a:r>
              <a:rPr sz="1250">
                <a:solidFill>
                  <a:srgbClr val="06B6D4"/>
                </a:solidFill>
                <a:latin typeface="Trebuchet MS"/>
              </a:rPr>
              <a:t>▸  </a:t>
            </a:r>
            <a:r>
              <a:rPr sz="1250">
                <a:solidFill>
                  <a:srgbClr val="CCCCEE"/>
                </a:solidFill>
                <a:latin typeface="Trebuchet MS"/>
              </a:rPr>
              <a:t>Optional SerpAPI upgrade if you want 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79" y="914400"/>
            <a:ext cx="3657600" cy="2560320"/>
          </a:xfrm>
          <a:prstGeom prst="rect">
            <a:avLst/>
          </a:prstGeom>
          <a:solidFill>
            <a:srgbClr val="161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83879" y="914400"/>
            <a:ext cx="73152" cy="25603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66759" y="10515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A78BFA"/>
                </a:solidFill>
                <a:latin typeface="Trebuchet MS"/>
              </a:rPr>
              <a:t>🤖  Groq LLaMA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59" y="1572768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>
                <a:solidFill>
                  <a:srgbClr val="A78BFA"/>
                </a:solidFill>
                <a:latin typeface="Trebuchet MS"/>
              </a:rPr>
              <a:t>▸  </a:t>
            </a:r>
            <a:r>
              <a:rPr sz="1250">
                <a:solidFill>
                  <a:srgbClr val="CCCCEE"/>
                </a:solidFill>
                <a:latin typeface="Trebuchet MS"/>
              </a:rPr>
              <a:t>Free LLaMA model via Groq API</a:t>
            </a:r>
          </a:p>
          <a:p>
            <a:pPr algn="l"/>
            <a:r>
              <a:rPr sz="1250">
                <a:solidFill>
                  <a:srgbClr val="A78BFA"/>
                </a:solidFill>
                <a:latin typeface="Trebuchet MS"/>
              </a:rPr>
              <a:t>▸  </a:t>
            </a:r>
            <a:r>
              <a:rPr sz="1250">
                <a:solidFill>
                  <a:srgbClr val="CCCCEE"/>
                </a:solidFill>
                <a:latin typeface="Trebuchet MS"/>
              </a:rPr>
              <a:t>Streams the answer word by word (feels fast)</a:t>
            </a:r>
          </a:p>
          <a:p>
            <a:pPr algn="l"/>
            <a:r>
              <a:rPr sz="1250">
                <a:solidFill>
                  <a:srgbClr val="A78BFA"/>
                </a:solidFill>
                <a:latin typeface="Trebuchet MS"/>
              </a:rPr>
              <a:t>▸  </a:t>
            </a:r>
            <a:r>
              <a:rPr sz="1250">
                <a:solidFill>
                  <a:srgbClr val="CCCCEE"/>
                </a:solidFill>
                <a:latin typeface="Trebuchet MS"/>
              </a:rPr>
              <a:t>Concise mode: 2-3 sentences max</a:t>
            </a:r>
          </a:p>
          <a:p>
            <a:pPr algn="l"/>
            <a:r>
              <a:rPr sz="1250">
                <a:solidFill>
                  <a:srgbClr val="A78BFA"/>
                </a:solidFill>
                <a:latin typeface="Trebuchet MS"/>
              </a:rPr>
              <a:t>▸  </a:t>
            </a:r>
            <a:r>
              <a:rPr sz="1250">
                <a:solidFill>
                  <a:srgbClr val="CCCCEE"/>
                </a:solidFill>
                <a:latin typeface="Trebuchet MS"/>
              </a:rPr>
              <a:t>Detailed mode: full explanation with structure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703320"/>
            <a:ext cx="3657600" cy="2560320"/>
          </a:xfrm>
          <a:prstGeom prst="rect">
            <a:avLst/>
          </a:prstGeom>
          <a:solidFill>
            <a:srgbClr val="161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0040" y="3703320"/>
            <a:ext cx="73152" cy="2560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3840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0B981"/>
                </a:solidFill>
                <a:latin typeface="Trebuchet MS"/>
              </a:rPr>
              <a:t>💬  Chat Interface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361688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>
                <a:solidFill>
                  <a:srgbClr val="10B981"/>
                </a:solidFill>
                <a:latin typeface="Trebuchet MS"/>
              </a:rPr>
              <a:t>▸  </a:t>
            </a:r>
            <a:r>
              <a:rPr sz="1250">
                <a:solidFill>
                  <a:srgbClr val="CCCCEE"/>
                </a:solidFill>
                <a:latin typeface="Trebuchet MS"/>
              </a:rPr>
              <a:t>Clean Streamlit chat layout</a:t>
            </a:r>
          </a:p>
          <a:p>
            <a:pPr algn="l"/>
            <a:r>
              <a:rPr sz="1250">
                <a:solidFill>
                  <a:srgbClr val="10B981"/>
                </a:solidFill>
                <a:latin typeface="Trebuchet MS"/>
              </a:rPr>
              <a:t>▸  </a:t>
            </a:r>
            <a:r>
              <a:rPr sz="1250">
                <a:solidFill>
                  <a:srgbClr val="CCCCEE"/>
                </a:solidFill>
                <a:latin typeface="Trebuchet MS"/>
              </a:rPr>
              <a:t>Shows source badge per answer (Doc / Web / AI)</a:t>
            </a:r>
          </a:p>
          <a:p>
            <a:pPr algn="l"/>
            <a:r>
              <a:rPr sz="1250">
                <a:solidFill>
                  <a:srgbClr val="10B981"/>
                </a:solidFill>
                <a:latin typeface="Trebuchet MS"/>
              </a:rPr>
              <a:t>▸  </a:t>
            </a:r>
            <a:r>
              <a:rPr sz="1250">
                <a:solidFill>
                  <a:srgbClr val="CCCCEE"/>
                </a:solidFill>
                <a:latin typeface="Trebuchet MS"/>
              </a:rPr>
              <a:t>Full chat history in the session</a:t>
            </a:r>
          </a:p>
          <a:p>
            <a:pPr algn="l"/>
            <a:r>
              <a:rPr sz="1250">
                <a:solidFill>
                  <a:srgbClr val="10B981"/>
                </a:solidFill>
                <a:latin typeface="Trebuchet MS"/>
              </a:rPr>
              <a:t>▸  </a:t>
            </a:r>
            <a:r>
              <a:rPr sz="1250">
                <a:solidFill>
                  <a:srgbClr val="CCCCEE"/>
                </a:solidFill>
                <a:latin typeface="Trebuchet MS"/>
              </a:rPr>
              <a:t>Pipeline trace shows how the answer was found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1959" y="3703320"/>
            <a:ext cx="3657600" cy="2560320"/>
          </a:xfrm>
          <a:prstGeom prst="rect">
            <a:avLst/>
          </a:prstGeom>
          <a:solidFill>
            <a:srgbClr val="161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251959" y="3703320"/>
            <a:ext cx="73152" cy="2560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34840" y="3840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F59E0B"/>
                </a:solidFill>
                <a:latin typeface="Trebuchet MS"/>
              </a:rPr>
              <a:t>🔒  Security &amp; Config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4361688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>
                <a:solidFill>
                  <a:srgbClr val="F59E0B"/>
                </a:solidFill>
                <a:latin typeface="Trebuchet MS"/>
              </a:rPr>
              <a:t>▸  </a:t>
            </a:r>
            <a:r>
              <a:rPr sz="1250">
                <a:solidFill>
                  <a:srgbClr val="CCCCEE"/>
                </a:solidFill>
                <a:latin typeface="Trebuchet MS"/>
              </a:rPr>
              <a:t>API key stored in .env (never in code)</a:t>
            </a:r>
          </a:p>
          <a:p>
            <a:pPr algn="l"/>
            <a:r>
              <a:rPr sz="1250">
                <a:solidFill>
                  <a:srgbClr val="F59E0B"/>
                </a:solidFill>
                <a:latin typeface="Trebuchet MS"/>
              </a:rPr>
              <a:t>▸  </a:t>
            </a:r>
            <a:r>
              <a:rPr sz="1250">
                <a:solidFill>
                  <a:srgbClr val="CCCCEE"/>
                </a:solidFill>
                <a:latin typeface="Trebuchet MS"/>
              </a:rPr>
              <a:t>Streamlit Cloud secrets for deployment</a:t>
            </a:r>
          </a:p>
          <a:p>
            <a:pPr algn="l"/>
            <a:r>
              <a:rPr sz="1250">
                <a:solidFill>
                  <a:srgbClr val="F59E0B"/>
                </a:solidFill>
                <a:latin typeface="Trebuchet MS"/>
              </a:rPr>
              <a:t>▸  </a:t>
            </a:r>
            <a:r>
              <a:rPr sz="1250">
                <a:solidFill>
                  <a:srgbClr val="CCCCEE"/>
                </a:solidFill>
                <a:latin typeface="Trebuchet MS"/>
              </a:rPr>
              <a:t>gitignore ensures key never gets committed</a:t>
            </a:r>
          </a:p>
          <a:p>
            <a:pPr algn="l"/>
            <a:r>
              <a:rPr sz="1250">
                <a:solidFill>
                  <a:srgbClr val="F59E0B"/>
                </a:solidFill>
                <a:latin typeface="Trebuchet MS"/>
              </a:rPr>
              <a:t>▸  </a:t>
            </a:r>
            <a:r>
              <a:rPr sz="1250">
                <a:solidFill>
                  <a:srgbClr val="CCCCEE"/>
                </a:solidFill>
                <a:latin typeface="Trebuchet MS"/>
              </a:rPr>
              <a:t>Config validation warns if key is missing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83879" y="3703320"/>
            <a:ext cx="3657600" cy="2560320"/>
          </a:xfrm>
          <a:prstGeom prst="rect">
            <a:avLst/>
          </a:prstGeom>
          <a:solidFill>
            <a:srgbClr val="161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183879" y="3703320"/>
            <a:ext cx="73152" cy="2560320"/>
          </a:xfrm>
          <a:prstGeom prst="rect">
            <a:avLst/>
          </a:prstGeom>
          <a:solidFill>
            <a:srgbClr val="CCC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66759" y="3840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CCCCEE"/>
                </a:solidFill>
                <a:latin typeface="Trebuchet MS"/>
              </a:rPr>
              <a:t>🛡️  Error Handling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59" y="4361688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>
                <a:solidFill>
                  <a:srgbClr val="CCCCEE"/>
                </a:solidFill>
                <a:latin typeface="Trebuchet MS"/>
              </a:rPr>
              <a:t>▸  Every function wrapped in try/except</a:t>
            </a:r>
          </a:p>
          <a:p>
            <a:pPr algn="l"/>
            <a:r>
              <a:rPr sz="1250">
                <a:solidFill>
                  <a:srgbClr val="CCCCEE"/>
                </a:solidFill>
                <a:latin typeface="Trebuchet MS"/>
              </a:rPr>
              <a:t>▸  Clean error messages shown in the UI</a:t>
            </a:r>
          </a:p>
          <a:p>
            <a:pPr algn="l"/>
            <a:r>
              <a:rPr sz="1250">
                <a:solidFill>
                  <a:srgbClr val="CCCCEE"/>
                </a:solidFill>
                <a:latin typeface="Trebuchet MS"/>
              </a:rPr>
              <a:t>▸  Graceful fallback at every step</a:t>
            </a:r>
          </a:p>
          <a:p>
            <a:pPr algn="l"/>
            <a:r>
              <a:rPr sz="1250">
                <a:solidFill>
                  <a:srgbClr val="CCCCEE"/>
                </a:solidFill>
                <a:latin typeface="Trebuchet MS"/>
              </a:rPr>
              <a:t>▸  Model loads lazily — only when first needed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61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0" y="66019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IN" sz="1000" dirty="0">
                <a:solidFill>
                  <a:srgbClr val="666699"/>
                </a:solidFill>
                <a:latin typeface="Trebuchet MS"/>
              </a:rPr>
              <a:t>AI Research Assistant 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61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7C3AED"/>
                </a:solidFill>
                <a:latin typeface="Trebuchet MS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7315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Trebuchet MS"/>
              </a:rPr>
              <a:t>Challenges, Learnings &amp; What's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868680"/>
            <a:ext cx="5486400" cy="2606040"/>
          </a:xfrm>
          <a:prstGeom prst="rect">
            <a:avLst/>
          </a:prstGeom>
          <a:solidFill>
            <a:srgbClr val="161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868680"/>
            <a:ext cx="64008" cy="2606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91440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59E0B"/>
                </a:solidFill>
                <a:latin typeface="Trebuchet MS"/>
              </a:rPr>
              <a:t>⚠️  Challenges We Faced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5212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F59E0B"/>
                </a:solidFill>
                <a:latin typeface="Trebuchet MS"/>
              </a:rPr>
              <a:t>▸  </a:t>
            </a:r>
            <a:r>
              <a:rPr sz="1300">
                <a:solidFill>
                  <a:srgbClr val="CCCCEE"/>
                </a:solidFill>
                <a:latin typeface="Trebuchet MS"/>
              </a:rPr>
              <a:t>Finding the right relevance threshold for RAG (too strict = never triggers; too loose = wrong context)</a:t>
            </a:r>
          </a:p>
          <a:p>
            <a:pPr algn="l"/>
            <a:r>
              <a:rPr sz="1300">
                <a:solidFill>
                  <a:srgbClr val="F59E0B"/>
                </a:solidFill>
                <a:latin typeface="Trebuchet MS"/>
              </a:rPr>
              <a:t>▸  </a:t>
            </a:r>
            <a:r>
              <a:rPr sz="1300">
                <a:solidFill>
                  <a:srgbClr val="CCCCEE"/>
                </a:solidFill>
                <a:latin typeface="Trebuchet MS"/>
              </a:rPr>
              <a:t>DuckDuckGo occasionally rate-limits — handled with graceful fallback and retry logic</a:t>
            </a:r>
          </a:p>
          <a:p>
            <a:pPr algn="l"/>
            <a:r>
              <a:rPr sz="1300">
                <a:solidFill>
                  <a:srgbClr val="F59E0B"/>
                </a:solidFill>
                <a:latin typeface="Trebuchet MS"/>
              </a:rPr>
              <a:t>▸  </a:t>
            </a:r>
            <a:r>
              <a:rPr sz="1300">
                <a:solidFill>
                  <a:srgbClr val="CCCCEE"/>
                </a:solidFill>
                <a:latin typeface="Trebuchet MS"/>
              </a:rPr>
              <a:t>PDF tables and multi-column layouts lose structure when converted to plain text</a:t>
            </a:r>
          </a:p>
          <a:p>
            <a:pPr algn="l"/>
            <a:r>
              <a:rPr sz="1300">
                <a:solidFill>
                  <a:srgbClr val="F59E0B"/>
                </a:solidFill>
                <a:latin typeface="Trebuchet MS"/>
              </a:rPr>
              <a:t>▸  </a:t>
            </a:r>
            <a:r>
              <a:rPr sz="1300">
                <a:solidFill>
                  <a:srgbClr val="CCCCEE"/>
                </a:solidFill>
                <a:latin typeface="Trebuchet MS"/>
              </a:rPr>
              <a:t>Streamlit re-renders on every interaction — required careful session state management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868680"/>
            <a:ext cx="5669280" cy="2606040"/>
          </a:xfrm>
          <a:prstGeom prst="rect">
            <a:avLst/>
          </a:prstGeom>
          <a:solidFill>
            <a:srgbClr val="161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72200" y="868680"/>
            <a:ext cx="64008" cy="26060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914400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6B6D4"/>
                </a:solidFill>
                <a:latin typeface="Trebuchet MS"/>
              </a:rPr>
              <a:t>🚀  Future Improvements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417320"/>
            <a:ext cx="5212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06B6D4"/>
                </a:solidFill>
                <a:latin typeface="Trebuchet MS"/>
              </a:rPr>
              <a:t>▸  </a:t>
            </a:r>
            <a:r>
              <a:rPr sz="1300">
                <a:solidFill>
                  <a:srgbClr val="CCCCEE"/>
                </a:solidFill>
                <a:latin typeface="Trebuchet MS"/>
              </a:rPr>
              <a:t>Support multiple documents at once, with per-file source labels</a:t>
            </a:r>
          </a:p>
          <a:p>
            <a:pPr algn="l"/>
            <a:r>
              <a:rPr sz="1300">
                <a:solidFill>
                  <a:srgbClr val="06B6D4"/>
                </a:solidFill>
                <a:latin typeface="Trebuchet MS"/>
              </a:rPr>
              <a:t>▸  </a:t>
            </a:r>
            <a:r>
              <a:rPr sz="1300">
                <a:solidFill>
                  <a:srgbClr val="CCCCEE"/>
                </a:solidFill>
                <a:latin typeface="Trebuchet MS"/>
              </a:rPr>
              <a:t>Persistent vector database (Chroma/Pinecone) so index survives page refreshes</a:t>
            </a:r>
          </a:p>
          <a:p>
            <a:pPr algn="l"/>
            <a:r>
              <a:rPr sz="1300">
                <a:solidFill>
                  <a:srgbClr val="06B6D4"/>
                </a:solidFill>
                <a:latin typeface="Trebuchet MS"/>
              </a:rPr>
              <a:t>▸  </a:t>
            </a:r>
            <a:r>
              <a:rPr sz="1300">
                <a:solidFill>
                  <a:srgbClr val="CCCCEE"/>
                </a:solidFill>
                <a:latin typeface="Trebuchet MS"/>
              </a:rPr>
              <a:t>Conversation memory — use previous chat turns to improve retrieval</a:t>
            </a:r>
          </a:p>
          <a:p>
            <a:pPr algn="l"/>
            <a:r>
              <a:rPr sz="1300">
                <a:solidFill>
                  <a:srgbClr val="06B6D4"/>
                </a:solidFill>
                <a:latin typeface="Trebuchet MS"/>
              </a:rPr>
              <a:t>▸  </a:t>
            </a:r>
            <a:r>
              <a:rPr sz="1300">
                <a:solidFill>
                  <a:srgbClr val="CCCCEE"/>
                </a:solidFill>
                <a:latin typeface="Trebuchet MS"/>
              </a:rPr>
              <a:t>Voice input/output for accessibility</a:t>
            </a:r>
          </a:p>
          <a:p>
            <a:pPr algn="l"/>
            <a:r>
              <a:rPr sz="1300">
                <a:solidFill>
                  <a:srgbClr val="06B6D4"/>
                </a:solidFill>
                <a:latin typeface="Trebuchet MS"/>
              </a:rPr>
              <a:t>▸  </a:t>
            </a:r>
            <a:r>
              <a:rPr sz="1300">
                <a:solidFill>
                  <a:srgbClr val="CCCCEE"/>
                </a:solidFill>
                <a:latin typeface="Trebuchet MS"/>
              </a:rPr>
              <a:t>Role-based modes (Legal Analyst, Medical Researcher, etc.)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657600"/>
            <a:ext cx="11521440" cy="2377440"/>
          </a:xfrm>
          <a:prstGeom prst="rect">
            <a:avLst/>
          </a:prstGeom>
          <a:solidFill>
            <a:srgbClr val="100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0040" y="3657600"/>
            <a:ext cx="91440" cy="2377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37307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  <a:latin typeface="Trebuchet MS"/>
              </a:rPr>
              <a:t>🎯  How to Get Your FREE Groq API Key — Step by Step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25196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CCEE"/>
                </a:solidFill>
                <a:latin typeface="Trebuchet MS"/>
              </a:rPr>
              <a:t>1️⃣  Open browser → go to:  https://console.groq.com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59028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CCEE"/>
                </a:solidFill>
                <a:latin typeface="Trebuchet MS"/>
              </a:rPr>
              <a:t>2️⃣  Click 'Sign Up' → enter your email address → verify email  (no credit card ever asked)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92861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CCEE"/>
                </a:solidFill>
                <a:latin typeface="Trebuchet MS"/>
              </a:rPr>
              <a:t>3️⃣  After login → click 'API Keys' in the left sidebar → click 'Create API Key'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CCEE"/>
                </a:solidFill>
                <a:latin typeface="Trebuchet MS"/>
              </a:rPr>
              <a:t>4️⃣  Copy the key (starts with gsk_...)  →  paste into your .env file:  GROQ_API_KEY=gsk_...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60527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0B981"/>
                </a:solidFill>
                <a:latin typeface="Trebuchet MS"/>
              </a:rPr>
              <a:t>5️⃣  Run:  streamlit run app.py  →  your chatbot is live! 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61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0" y="66019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IN" sz="1000" dirty="0">
                <a:solidFill>
                  <a:srgbClr val="666699"/>
                </a:solidFill>
                <a:latin typeface="Trebuchet MS"/>
              </a:rPr>
              <a:t>AI Research Assistant 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1016</Words>
  <Application>Microsoft Office PowerPoint</Application>
  <PresentationFormat>Widescreen</PresentationFormat>
  <Paragraphs>127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SACHIN M P</dc:creator>
  <cp:keywords/>
  <dc:description>generated using python-pptx</dc:description>
  <cp:lastModifiedBy>SACHIN M P</cp:lastModifiedBy>
  <cp:revision>2</cp:revision>
  <dcterms:created xsi:type="dcterms:W3CDTF">2013-01-27T09:14:16Z</dcterms:created>
  <dcterms:modified xsi:type="dcterms:W3CDTF">2026-03-20T05:13:05Z</dcterms:modified>
  <cp:category/>
</cp:coreProperties>
</file>